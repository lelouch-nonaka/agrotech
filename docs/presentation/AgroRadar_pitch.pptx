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Здравствуйте! Мы команда AgroTech AI. Наш продукт — «Агро-Радар»: одно рабочее место агронома, где собраны карта полей, погода, риски и ИИ-консультант. За 5 минут покажем, как это работает и почему это можно ставить в хозяйство уже завтра.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Кейс просил три вещи: карту с погодой, светофор рисков и ИИ-агронома. Мы поговорили с агрономом и добавили то, без чего это не работало бы: NPK и дозы, точные даты, фазы, севооборот на 7 лет и вегетационный индекс.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Слева три модуля, справа — как это выглядит. Обратите внимание: на одном экране и прогноз, и рекомендации, и карта. Агроному не нужно переключать пять систем.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Четыре раздела повторяют рабочий день: посмотреть, где горит; открыть карту; проверить, что посеяно; спланировать севооборот. Всё связано ссылками — можно отправить коллеге.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Вот почва: азот 109 %, фосфор 123 %, калий 114 %. Видно, что подкормки не нужны, а дозы рассчитаны в кг действующего вещества на гектар. Это то, что агроном просил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Севооборот — это то, что чаще всего рисуют в Excel. У нас сетка на 12 полей и 7 лет, с паром и пояснением. Плюс техкарта, где видно стоимость каждой операции.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Важно: модель не придумывает препараты. Она берёт только то, что есть в плане обработок. Если провайдер отдаёт 429 — приложение отвечает детерминированно, и демо не ломается. Это честный инженерный компромисс, а не «магия».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Агроном в поле не носит ноутбук. Поэтому тот же интерфейс открывается на телефоне: крупные кнопки, чат на весь экран, работает офлайн после первого открытия.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Почему не React и не Next: продукт должен открываться на слабом планшете в поле и работать офлайн. Один HTML и локальные библиотеки дают это бесплатно. Python-бэкенд — FastAPI: 12 эндпоинтов, модель в памяти, LLM в threadpool, поэтому интерфейс не зависает. 39 автотестов.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Практическая применимость: установка занимает пару минут, интернет нужен только для LLM. Мы специально выносим ограничения на слайд: данные демонстрационные, NDVI модельный. Это не минус, а честная рамка — и понятный план, что делать дальше.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заранее разложили проект по вашему оценочному листу. Каждый критерий — конкретный экран или артефакт, а не общие слова.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Спасибо! Мы готовы показать живое демо и ответить на вопросы. Дальше — реальные снимки NDVI, интеграция с агросистемой и мобильное приложение.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BD694"/>
                </a:solidFill>
                <a:latin typeface="Segoe UI"/>
              </a:rPr>
              <a:t>КЕЙС-ЧЕМПИОНАТ БЕЛГОРОДСКОЙ ОБЛАСТИ  ·  РУСАГРО × ШКОЛА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607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 i="0">
                <a:solidFill>
                  <a:srgbClr val="FFFFFF"/>
                </a:solidFill>
                <a:latin typeface="Segoe UI"/>
              </a:rPr>
              <a:t>Агро-Радар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E6EDF3"/>
                </a:solidFill>
                <a:latin typeface="Segoe UI"/>
              </a:rPr>
              <a:t>Рабочее место агронома: карта, погода, риски и ИИ-консультант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160520"/>
            <a:ext cx="4206240" cy="36576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Команда AgroTech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46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4AE"/>
                </a:solidFill>
                <a:latin typeface="Segoe UI"/>
              </a:rPr>
              <a:t>MVP · октябрь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7607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A4AE"/>
                </a:solidFill>
                <a:latin typeface="Segoe UI"/>
              </a:rPr>
              <a:t>http://127.0.0.1:8000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502920" cy="4572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BD694"/>
                </a:solidFill>
                <a:latin typeface="Segoe UI"/>
              </a:rPr>
              <a:t>01 · ЗАДАЧА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Что нужно было сделать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AA4AE"/>
                </a:solidFill>
                <a:latin typeface="Segoe UI"/>
              </a:rPr>
              <a:t>Требования кейса и то, что добавил агроном в интервью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5440680" cy="2788920"/>
          </a:xfrm>
          <a:prstGeom prst="rect">
            <a:avLst/>
          </a:prstGeom>
          <a:solidFill>
            <a:srgbClr val="151B22"/>
          </a:solidFill>
          <a:ln w="12700">
            <a:solidFill>
              <a:srgbClr val="2A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BD694"/>
                </a:solidFill>
                <a:latin typeface="Segoe UI"/>
              </a:rPr>
              <a:t>КЕЙС РУСАГРО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48920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>
                <a:solidFill>
                  <a:srgbClr val="4CAF50"/>
                </a:solidFill>
                <a:latin typeface="Segoe UI"/>
              </a:rPr>
              <a:t>●  </a:t>
            </a:r>
            <a:r>
              <a:rPr sz="1350">
                <a:solidFill>
                  <a:srgbClr val="E6EDF3"/>
                </a:solidFill>
                <a:latin typeface="Segoe UI"/>
              </a:rPr>
              <a:t>Карта полей и погода в одном окне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>
                <a:solidFill>
                  <a:srgbClr val="4CAF50"/>
                </a:solidFill>
                <a:latin typeface="Segoe UI"/>
              </a:rPr>
              <a:t>●  </a:t>
            </a:r>
            <a:r>
              <a:rPr sz="1350">
                <a:solidFill>
                  <a:srgbClr val="E6EDF3"/>
                </a:solidFill>
                <a:latin typeface="Segoe UI"/>
              </a:rPr>
              <a:t>Светофор рисков: болезни, засуха, вредители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>
                <a:solidFill>
                  <a:srgbClr val="4CAF50"/>
                </a:solidFill>
                <a:latin typeface="Segoe UI"/>
              </a:rPr>
              <a:t>●  </a:t>
            </a:r>
            <a:r>
              <a:rPr sz="1350">
                <a:solidFill>
                  <a:srgbClr val="E6EDF3"/>
                </a:solidFill>
                <a:latin typeface="Segoe UI"/>
              </a:rPr>
              <a:t>ИИ-агроном, который отвечает по данным поля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>
                <a:solidFill>
                  <a:srgbClr val="4CAF50"/>
                </a:solidFill>
                <a:latin typeface="Segoe UI"/>
              </a:rPr>
              <a:t>●  </a:t>
            </a:r>
            <a:r>
              <a:rPr sz="1350">
                <a:solidFill>
                  <a:srgbClr val="E6EDF3"/>
                </a:solidFill>
                <a:latin typeface="Segoe UI"/>
              </a:rPr>
              <a:t>Интерфейс для планшета и смартфона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965960"/>
            <a:ext cx="5440680" cy="2788920"/>
          </a:xfrm>
          <a:prstGeom prst="rect">
            <a:avLst/>
          </a:prstGeom>
          <a:solidFill>
            <a:srgbClr val="151B22"/>
          </a:solidFill>
          <a:ln w="12700">
            <a:solidFill>
              <a:srgbClr val="2A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14884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BD694"/>
                </a:solidFill>
                <a:latin typeface="Segoe UI"/>
              </a:rPr>
              <a:t>ТРЕБОВАНИЯ АГРОНОМА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60320"/>
            <a:ext cx="48920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>
                <a:solidFill>
                  <a:srgbClr val="4CAF50"/>
                </a:solidFill>
                <a:latin typeface="Segoe UI"/>
              </a:rPr>
              <a:t>●  </a:t>
            </a:r>
            <a:r>
              <a:rPr sz="1250">
                <a:solidFill>
                  <a:srgbClr val="E6EDF3"/>
                </a:solidFill>
                <a:latin typeface="Segoe UI"/>
              </a:rPr>
              <a:t>NPK, pH, гумус и дозы удобрений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>
                <a:solidFill>
                  <a:srgbClr val="4CAF50"/>
                </a:solidFill>
                <a:latin typeface="Segoe UI"/>
              </a:rPr>
              <a:t>●  </a:t>
            </a:r>
            <a:r>
              <a:rPr sz="1250">
                <a:solidFill>
                  <a:srgbClr val="E6EDF3"/>
                </a:solidFill>
                <a:latin typeface="Segoe UI"/>
              </a:rPr>
              <a:t>Точные даты сева, уборки и обработок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>
                <a:solidFill>
                  <a:srgbClr val="4CAF50"/>
                </a:solidFill>
                <a:latin typeface="Segoe UI"/>
              </a:rPr>
              <a:t>●  </a:t>
            </a:r>
            <a:r>
              <a:rPr sz="1250">
                <a:solidFill>
                  <a:srgbClr val="E6EDF3"/>
                </a:solidFill>
                <a:latin typeface="Segoe UI"/>
              </a:rPr>
              <a:t>Фазы развития и технологическая карта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>
                <a:solidFill>
                  <a:srgbClr val="4CAF50"/>
                </a:solidFill>
                <a:latin typeface="Segoe UI"/>
              </a:rPr>
              <a:t>●  </a:t>
            </a:r>
            <a:r>
              <a:rPr sz="1250">
                <a:solidFill>
                  <a:srgbClr val="E6EDF3"/>
                </a:solidFill>
                <a:latin typeface="Segoe UI"/>
              </a:rPr>
              <a:t>Севооборот на 7 лет, с паром и обоснованием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50">
                <a:solidFill>
                  <a:srgbClr val="4CAF50"/>
                </a:solidFill>
                <a:latin typeface="Segoe UI"/>
              </a:rPr>
              <a:t>●  </a:t>
            </a:r>
            <a:r>
              <a:rPr sz="1250">
                <a:solidFill>
                  <a:srgbClr val="E6EDF3"/>
                </a:solidFill>
                <a:latin typeface="Segoe UI"/>
              </a:rPr>
              <a:t>Вегетационный индекс и план/факт работ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749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8BD694"/>
                </a:solidFill>
                <a:latin typeface="Segoe UI"/>
              </a:rPr>
              <a:t>Итог: один экран, где есть «где горит», «что делать» и «почему именно так».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4AE"/>
                </a:solidFill>
                <a:latin typeface="Segoe UI"/>
              </a:rPr>
              <a:t>AgroTech AI  ·  «Агро-Радар»  ·  кейс РУСАГРО × Школа 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4AE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502920" cy="4572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BD694"/>
                </a:solidFill>
                <a:latin typeface="Segoe UI"/>
              </a:rPr>
              <a:t>02 · РЕШЕНИЕ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Три модуля — один экран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3566160" cy="1325880"/>
          </a:xfrm>
          <a:prstGeom prst="rect">
            <a:avLst/>
          </a:prstGeom>
          <a:solidFill>
            <a:srgbClr val="151B22"/>
          </a:solidFill>
          <a:ln w="12700">
            <a:solidFill>
              <a:srgbClr val="2A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1945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CAF50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945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Карта и погода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670048"/>
            <a:ext cx="30632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AA4AE"/>
                </a:solidFill>
                <a:latin typeface="Segoe UI"/>
              </a:rPr>
              <a:t>12 полей, 1290 га, прогноз на 5 дней, статусы и переходы на карту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520440"/>
            <a:ext cx="3566160" cy="1325880"/>
          </a:xfrm>
          <a:prstGeom prst="rect">
            <a:avLst/>
          </a:prstGeom>
          <a:solidFill>
            <a:srgbClr val="151B22"/>
          </a:solidFill>
          <a:ln w="12700">
            <a:solidFill>
              <a:srgbClr val="2A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7033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9800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7033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Светофор рисков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178808"/>
            <a:ext cx="30632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AA4AE"/>
                </a:solidFill>
                <a:latin typeface="Segoe UI"/>
              </a:rPr>
              <a:t>Random Forest: болезни, засуха, вредители — и рекомендации, что делать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029200"/>
            <a:ext cx="3566160" cy="1280160"/>
          </a:xfrm>
          <a:prstGeom prst="rect">
            <a:avLst/>
          </a:prstGeom>
          <a:solidFill>
            <a:srgbClr val="151B22"/>
          </a:solidFill>
          <a:ln w="12700">
            <a:solidFill>
              <a:srgbClr val="2A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52120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CAF50"/>
                </a:solidFill>
                <a:latin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2120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ИИ-агроном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5687568"/>
            <a:ext cx="3063239" cy="502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AA4AE"/>
                </a:solidFill>
                <a:latin typeface="Segoe UI"/>
              </a:rPr>
              <a:t>Отвечает по контексту поля: риски, почва, обработки, погода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59970" y="1819655"/>
            <a:ext cx="6973498" cy="4407408"/>
          </a:xfrm>
          <a:prstGeom prst="rect">
            <a:avLst/>
          </a:prstGeom>
          <a:solidFill>
            <a:srgbClr val="151B22"/>
          </a:solidFill>
          <a:ln w="12700">
            <a:solidFill>
              <a:srgbClr val="2A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inal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834" y="1874519"/>
            <a:ext cx="6863770" cy="42976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4AE"/>
                </a:solidFill>
                <a:latin typeface="Segoe UI"/>
              </a:rPr>
              <a:t>AgroTech AI  ·  «Агро-Радар»  ·  кейс РУСАГРО × Школа 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4AE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502920" cy="4572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BD694"/>
                </a:solidFill>
                <a:latin typeface="Segoe UI"/>
              </a:rPr>
              <a:t>03 · ЭКРАНЫ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Четыре раздела, один сценарий работы</a:t>
            </a:r>
          </a:p>
        </p:txBody>
      </p:sp>
      <p:sp>
        <p:nvSpPr>
          <p:cNvPr id="6" name="Rectangle 5"/>
          <p:cNvSpPr/>
          <p:nvPr/>
        </p:nvSpPr>
        <p:spPr>
          <a:xfrm>
            <a:off x="783631" y="1819655"/>
            <a:ext cx="7119536" cy="4498848"/>
          </a:xfrm>
          <a:prstGeom prst="rect">
            <a:avLst/>
          </a:prstGeom>
          <a:solidFill>
            <a:srgbClr val="151B22"/>
          </a:solidFill>
          <a:ln w="12700">
            <a:solidFill>
              <a:srgbClr val="2A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sktop_state_b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495" y="1874519"/>
            <a:ext cx="7009808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58200" y="2011680"/>
            <a:ext cx="32004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950">
                <a:solidFill>
                  <a:srgbClr val="4CAF50"/>
                </a:solidFill>
                <a:latin typeface="Segoe UI"/>
              </a:rPr>
              <a:t>●  </a:t>
            </a:r>
            <a:r>
              <a:rPr sz="1250">
                <a:solidFill>
                  <a:srgbClr val="E6EDF3"/>
                </a:solidFill>
                <a:latin typeface="Segoe UI"/>
              </a:rPr>
              <a:t>«Поля» — светофор и список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950">
                <a:solidFill>
                  <a:srgbClr val="4CAF50"/>
                </a:solidFill>
                <a:latin typeface="Segoe UI"/>
              </a:rPr>
              <a:t>●  </a:t>
            </a:r>
            <a:r>
              <a:rPr sz="1250">
                <a:solidFill>
                  <a:srgbClr val="E6EDF3"/>
                </a:solidFill>
                <a:latin typeface="Segoe UI"/>
              </a:rPr>
              <a:t>«Карта» — все поля на карте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950">
                <a:solidFill>
                  <a:srgbClr val="4CAF50"/>
                </a:solidFill>
                <a:latin typeface="Segoe UI"/>
              </a:rPr>
              <a:t>●  </a:t>
            </a:r>
            <a:r>
              <a:rPr sz="1250">
                <a:solidFill>
                  <a:srgbClr val="E6EDF3"/>
                </a:solidFill>
                <a:latin typeface="Segoe UI"/>
              </a:rPr>
              <a:t>«Мониторинг» — что посеяно сейчас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950">
                <a:solidFill>
                  <a:srgbClr val="4CAF50"/>
                </a:solidFill>
                <a:latin typeface="Segoe UI"/>
              </a:rPr>
              <a:t>●  </a:t>
            </a:r>
            <a:r>
              <a:rPr sz="1250">
                <a:solidFill>
                  <a:srgbClr val="E6EDF3"/>
                </a:solidFill>
                <a:latin typeface="Segoe UI"/>
              </a:rPr>
              <a:t>«Севооборот» — сетка на 7 лет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950">
                <a:solidFill>
                  <a:srgbClr val="4CAF50"/>
                </a:solidFill>
                <a:latin typeface="Segoe UI"/>
              </a:rPr>
              <a:t>●  </a:t>
            </a:r>
            <a:r>
              <a:rPr sz="125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950">
                <a:solidFill>
                  <a:srgbClr val="4CAF50"/>
                </a:solidFill>
                <a:latin typeface="Segoe UI"/>
              </a:rPr>
              <a:t>●  </a:t>
            </a:r>
            <a:r>
              <a:rPr sz="1250">
                <a:solidFill>
                  <a:srgbClr val="E6EDF3"/>
                </a:solidFill>
                <a:latin typeface="Segoe UI"/>
              </a:rPr>
              <a:t>Deep-links: #state, #rotation, #field/A-01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4AE"/>
                </a:solidFill>
                <a:latin typeface="Segoe UI"/>
              </a:rPr>
              <a:t>AgroTech AI  ·  «Агро-Радар»  ·  кейс РУСАГРО × Школа 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4AE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502920" cy="4572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BD694"/>
                </a:solidFill>
                <a:latin typeface="Segoe UI"/>
              </a:rPr>
              <a:t>04 · КАРТОЧКА ПОЛЯ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Семь вкладок вместо таблиц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AA4AE"/>
                </a:solidFill>
                <a:latin typeface="Segoe UI"/>
              </a:rPr>
              <a:t>Каждая вкладка отвечает на вопрос агронома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897129"/>
            <a:ext cx="7516367" cy="2743700"/>
          </a:xfrm>
          <a:prstGeom prst="rect">
            <a:avLst/>
          </a:prstGeom>
          <a:solidFill>
            <a:srgbClr val="151B22"/>
          </a:solidFill>
          <a:ln w="12700">
            <a:solidFill>
              <a:srgbClr val="2A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oil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51993"/>
            <a:ext cx="7406640" cy="26339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4800600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9AA4AE"/>
                </a:solidFill>
                <a:latin typeface="Segoe UI"/>
              </a:rPr>
              <a:t>Обследование 26.04 · слой 0–30 см · pH 6,83 · гумус 3,9 % · дефицит N, P, 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257800"/>
            <a:ext cx="2377440" cy="868680"/>
          </a:xfrm>
          <a:prstGeom prst="rect">
            <a:avLst/>
          </a:prstGeom>
          <a:solidFill>
            <a:srgbClr val="151B22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534924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4AE"/>
                </a:solidFill>
                <a:latin typeface="Segoe UI"/>
              </a:rPr>
              <a:t>КАС-32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562356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8BD694"/>
                </a:solidFill>
                <a:latin typeface="Segoe UI"/>
              </a:rPr>
              <a:t>73 л/га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90672" y="5257800"/>
            <a:ext cx="2377440" cy="868680"/>
          </a:xfrm>
          <a:prstGeom prst="rect">
            <a:avLst/>
          </a:prstGeom>
          <a:solidFill>
            <a:srgbClr val="151B22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55264" y="534924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4AE"/>
                </a:solidFill>
                <a:latin typeface="Segoe UI"/>
              </a:rPr>
              <a:t>Аммофос N12P52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55264" y="562356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8BD694"/>
                </a:solidFill>
                <a:latin typeface="Segoe UI"/>
              </a:rPr>
              <a:t>237 кг/га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32704" y="5257800"/>
            <a:ext cx="2377440" cy="868680"/>
          </a:xfrm>
          <a:prstGeom prst="rect">
            <a:avLst/>
          </a:prstGeom>
          <a:solidFill>
            <a:srgbClr val="151B22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97296" y="534924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4AE"/>
                </a:solidFill>
                <a:latin typeface="Segoe UI"/>
              </a:rPr>
              <a:t>Хлористый калий K60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97296" y="562356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8BD694"/>
                </a:solidFill>
                <a:latin typeface="Segoe UI"/>
              </a:rPr>
              <a:t>425 кг/га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920240"/>
            <a:ext cx="33832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950">
                <a:solidFill>
                  <a:srgbClr val="4CAF50"/>
                </a:solidFill>
                <a:latin typeface="Segoe UI"/>
              </a:rPr>
              <a:t>●  </a:t>
            </a:r>
            <a:r>
              <a:rPr sz="1250">
                <a:solidFill>
                  <a:srgbClr val="E6EDF3"/>
                </a:solidFill>
                <a:latin typeface="Segoe UI"/>
              </a:rPr>
              <a:t>Обзор — показатели и риски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950">
                <a:solidFill>
                  <a:srgbClr val="4CAF50"/>
                </a:solidFill>
                <a:latin typeface="Segoe UI"/>
              </a:rPr>
              <a:t>●  </a:t>
            </a:r>
            <a:r>
              <a:rPr sz="1250">
                <a:solidFill>
                  <a:srgbClr val="E6EDF3"/>
                </a:solidFill>
                <a:latin typeface="Segoe UI"/>
              </a:rPr>
              <a:t>Почва — NPK факт/цель и дозы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950">
                <a:solidFill>
                  <a:srgbClr val="4CAF50"/>
                </a:solidFill>
                <a:latin typeface="Segoe UI"/>
              </a:rPr>
              <a:t>●  </a:t>
            </a:r>
            <a:r>
              <a:rPr sz="1250">
                <a:solidFill>
                  <a:srgbClr val="E6EDF3"/>
                </a:solidFill>
                <a:latin typeface="Segoe UI"/>
              </a:rPr>
              <a:t>Фазы — 11 фаз с датами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950">
                <a:solidFill>
                  <a:srgbClr val="4CAF50"/>
                </a:solidFill>
                <a:latin typeface="Segoe UI"/>
              </a:rPr>
              <a:t>●  </a:t>
            </a:r>
            <a:r>
              <a:rPr sz="1250">
                <a:solidFill>
                  <a:srgbClr val="E6EDF3"/>
                </a:solidFill>
                <a:latin typeface="Segoe UI"/>
              </a:rPr>
              <a:t>Работы — техкарта, 13 операций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950">
                <a:solidFill>
                  <a:srgbClr val="4CAF50"/>
                </a:solidFill>
                <a:latin typeface="Segoe UI"/>
              </a:rPr>
              <a:t>●  </a:t>
            </a:r>
            <a:r>
              <a:rPr sz="1250">
                <a:solidFill>
                  <a:srgbClr val="E6EDF3"/>
                </a:solidFill>
                <a:latin typeface="Segoe UI"/>
              </a:rPr>
              <a:t>Защита — план/факт обработок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950">
                <a:solidFill>
                  <a:srgbClr val="4CAF50"/>
                </a:solidFill>
                <a:latin typeface="Segoe UI"/>
              </a:rPr>
              <a:t>●  </a:t>
            </a:r>
            <a:r>
              <a:rPr sz="1250">
                <a:solidFill>
                  <a:srgbClr val="E6EDF3"/>
                </a:solidFill>
                <a:latin typeface="Segoe UI"/>
              </a:rPr>
              <a:t>NDVI — индекс и тренд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950">
                <a:solidFill>
                  <a:srgbClr val="4CAF50"/>
                </a:solidFill>
                <a:latin typeface="Segoe UI"/>
              </a:rPr>
              <a:t>●  </a:t>
            </a:r>
            <a:r>
              <a:rPr sz="1250">
                <a:solidFill>
                  <a:srgbClr val="E6EDF3"/>
                </a:solidFill>
                <a:latin typeface="Segoe UI"/>
              </a:rPr>
              <a:t>Севооборот — 7 лет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4AE"/>
                </a:solidFill>
                <a:latin typeface="Segoe UI"/>
              </a:rPr>
              <a:t>AgroTech AI  ·  «Агро-Радар»  ·  кейс РУСАГРО × Школа 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4AE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502920" cy="4572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BD694"/>
                </a:solidFill>
                <a:latin typeface="Segoe UI"/>
              </a:rPr>
              <a:t>05 · СЕВООБОРОТ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Семь лет, пар и обоснование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AA4AE"/>
                </a:solidFill>
                <a:latin typeface="Segoe UI"/>
              </a:rPr>
              <a:t>Не просто таблица, а объяснение, почему культура стоит именно здесь</a:t>
            </a:r>
          </a:p>
        </p:txBody>
      </p:sp>
      <p:sp>
        <p:nvSpPr>
          <p:cNvPr id="7" name="Rectangle 6"/>
          <p:cNvSpPr/>
          <p:nvPr/>
        </p:nvSpPr>
        <p:spPr>
          <a:xfrm>
            <a:off x="702056" y="1773936"/>
            <a:ext cx="7008367" cy="4544568"/>
          </a:xfrm>
          <a:prstGeom prst="rect">
            <a:avLst/>
          </a:prstGeom>
          <a:solidFill>
            <a:srgbClr val="151B22"/>
          </a:solidFill>
          <a:ln w="12700">
            <a:solidFill>
              <a:srgbClr val="2A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o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920" y="1828800"/>
            <a:ext cx="6898639" cy="4434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38160" y="1920240"/>
            <a:ext cx="356616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950">
                <a:solidFill>
                  <a:srgbClr val="4CAF50"/>
                </a:solidFill>
                <a:latin typeface="Segoe UI"/>
              </a:rPr>
              <a:t>●  </a:t>
            </a:r>
            <a:r>
              <a:rPr sz="1250">
                <a:solidFill>
                  <a:srgbClr val="E6EDF3"/>
                </a:solidFill>
                <a:latin typeface="Segoe UI"/>
              </a:rPr>
              <a:t>12 полей × 7 лет — одна сетка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950">
                <a:solidFill>
                  <a:srgbClr val="4CAF50"/>
                </a:solidFill>
                <a:latin typeface="Segoe UI"/>
              </a:rPr>
              <a:t>●  </a:t>
            </a:r>
            <a:r>
              <a:rPr sz="1250">
                <a:solidFill>
                  <a:srgbClr val="E6EDF3"/>
                </a:solidFill>
                <a:latin typeface="Segoe UI"/>
              </a:rPr>
              <a:t>Пар и занятые поля — не пустые клетки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950">
                <a:solidFill>
                  <a:srgbClr val="4CAF50"/>
                </a:solidFill>
                <a:latin typeface="Segoe UI"/>
              </a:rPr>
              <a:t>●  </a:t>
            </a:r>
            <a:r>
              <a:rPr sz="1250">
                <a:solidFill>
                  <a:srgbClr val="E6EDF3"/>
                </a:solidFill>
                <a:latin typeface="Segoe UI"/>
              </a:rPr>
              <a:t>Штраф за повтор культуры в один год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950">
                <a:solidFill>
                  <a:srgbClr val="4CAF50"/>
                </a:solidFill>
                <a:latin typeface="Segoe UI"/>
              </a:rPr>
              <a:t>●  </a:t>
            </a:r>
            <a:r>
              <a:rPr sz="1250">
                <a:solidFill>
                  <a:srgbClr val="E6EDF3"/>
                </a:solidFill>
                <a:latin typeface="Segoe UI"/>
              </a:rPr>
              <a:t>Обоснование предшественника в каждой клетке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950">
                <a:solidFill>
                  <a:srgbClr val="4CAF50"/>
                </a:solidFill>
                <a:latin typeface="Segoe UI"/>
              </a:rPr>
              <a:t>●  </a:t>
            </a:r>
            <a:r>
              <a:rPr sz="1250">
                <a:solidFill>
                  <a:srgbClr val="E6EDF3"/>
                </a:solidFill>
                <a:latin typeface="Segoe UI"/>
              </a:rPr>
              <a:t>Техкарта: 13 операций со стоимостью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4AE"/>
                </a:solidFill>
                <a:latin typeface="Segoe UI"/>
              </a:rPr>
              <a:t>AgroTech AI  ·  «Агро-Радар»  ·  кейс РУСАГРО × Школа 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4AE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502920" cy="4572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BD694"/>
                </a:solidFill>
                <a:latin typeface="Segoe UI"/>
              </a:rPr>
              <a:t>06 · ИИ-АГРОНОМ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Контекст, ограничения и честный fallback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2606040" cy="1417320"/>
          </a:xfrm>
          <a:prstGeom prst="rect">
            <a:avLst/>
          </a:prstGeom>
          <a:solidFill>
            <a:srgbClr val="151B22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Контекст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AA4AE"/>
                </a:solidFill>
                <a:latin typeface="Segoe UI"/>
              </a:rPr>
              <a:t>поле, фаза,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AA4AE"/>
                </a:solidFill>
                <a:latin typeface="Segoe UI"/>
              </a:rPr>
              <a:t>почва, обработки,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AA4AE"/>
                </a:solidFill>
                <a:latin typeface="Segoe UI"/>
              </a:rPr>
              <a:t>погода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514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4CAF50"/>
                </a:solidFill>
                <a:latin typeface="Segoe U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1568" y="1965960"/>
            <a:ext cx="2606040" cy="1417320"/>
          </a:xfrm>
          <a:prstGeom prst="rect">
            <a:avLst/>
          </a:prstGeom>
          <a:solidFill>
            <a:srgbClr val="151B22"/>
          </a:solidFill>
          <a:ln w="12700">
            <a:solidFill>
              <a:srgbClr val="2A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21031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Модель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4688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AA4AE"/>
                </a:solidFill>
                <a:latin typeface="Segoe UI"/>
              </a:rPr>
              <a:t>Nemotron Ultra,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AA4AE"/>
                </a:solidFill>
                <a:latin typeface="Segoe UI"/>
              </a:rPr>
              <a:t>фолбэк Lightning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53328" y="2514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4CAF50"/>
                </a:solidFill>
                <a:latin typeface="Segoe U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4496" y="1965960"/>
            <a:ext cx="2606040" cy="1417320"/>
          </a:xfrm>
          <a:prstGeom prst="rect">
            <a:avLst/>
          </a:prstGeom>
          <a:solidFill>
            <a:srgbClr val="151B22"/>
          </a:solidFill>
          <a:ln w="12700">
            <a:solidFill>
              <a:srgbClr val="2A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21031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Валидатор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4688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AA4AE"/>
                </a:solidFill>
                <a:latin typeface="Segoe UI"/>
              </a:rPr>
              <a:t>русский язык,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AA4AE"/>
                </a:solidFill>
                <a:latin typeface="Segoe UI"/>
              </a:rPr>
              <a:t>без выдуманных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AA4AE"/>
                </a:solidFill>
                <a:latin typeface="Segoe UI"/>
              </a:rPr>
              <a:t>препаратов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6256" y="2514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4CAF50"/>
                </a:solidFill>
                <a:latin typeface="Segoe U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07424" y="1965960"/>
            <a:ext cx="2606040" cy="1417320"/>
          </a:xfrm>
          <a:prstGeom prst="rect">
            <a:avLst/>
          </a:prstGeom>
          <a:solidFill>
            <a:srgbClr val="151B22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0304" y="21031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Ответ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0304" y="24688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AA4AE"/>
                </a:solidFill>
                <a:latin typeface="Segoe UI"/>
              </a:rPr>
              <a:t>или детермини-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AA4AE"/>
                </a:solidFill>
                <a:latin typeface="Segoe UI"/>
              </a:rPr>
              <a:t>рованный 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57600"/>
            <a:ext cx="539496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950">
                <a:solidFill>
                  <a:srgbClr val="4CAF50"/>
                </a:solidFill>
                <a:latin typeface="Segoe UI"/>
              </a:rPr>
              <a:t>●  </a:t>
            </a:r>
            <a:r>
              <a:rPr sz="1250">
                <a:solidFill>
                  <a:srgbClr val="E6EDF3"/>
                </a:solidFill>
                <a:latin typeface="Segoe UI"/>
              </a:rPr>
              <a:t>Препараты и дозы — только из плана обработок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950">
                <a:solidFill>
                  <a:srgbClr val="4CAF50"/>
                </a:solidFill>
                <a:latin typeface="Segoe UI"/>
              </a:rPr>
              <a:t>●  </a:t>
            </a:r>
            <a:r>
              <a:rPr sz="1250">
                <a:solidFill>
                  <a:srgbClr val="E6EDF3"/>
                </a:solidFill>
                <a:latin typeface="Segoe UI"/>
              </a:rPr>
              <a:t>Ответ 20–40 секунд, потоковая печать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950">
                <a:solidFill>
                  <a:srgbClr val="4CAF50"/>
                </a:solidFill>
                <a:latin typeface="Segoe UI"/>
              </a:rPr>
              <a:t>●  </a:t>
            </a:r>
            <a:r>
              <a:rPr sz="1250">
                <a:solidFill>
                  <a:srgbClr val="E6EDF3"/>
                </a:solidFill>
                <a:latin typeface="Segoe UI"/>
              </a:rPr>
              <a:t>При 429 — ответ из данных, демо не падает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950">
                <a:solidFill>
                  <a:srgbClr val="4CAF50"/>
                </a:solidFill>
                <a:latin typeface="Segoe UI"/>
              </a:rPr>
              <a:t>●  </a:t>
            </a:r>
            <a:r>
              <a:rPr sz="1250">
                <a:solidFill>
                  <a:srgbClr val="E6EDF3"/>
                </a:solidFill>
                <a:latin typeface="Segoe UI"/>
              </a:rPr>
              <a:t>Чат на весь экран на телефоне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657600"/>
            <a:ext cx="5394960" cy="2377440"/>
          </a:xfrm>
          <a:prstGeom prst="rect">
            <a:avLst/>
          </a:prstGeom>
          <a:solidFill>
            <a:srgbClr val="151B22"/>
          </a:solidFill>
          <a:ln w="12700">
            <a:solidFill>
              <a:srgbClr val="2A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404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BD694"/>
                </a:solidFill>
                <a:latin typeface="Segoe UI"/>
              </a:rPr>
              <a:t>ЧТО СПРАШИВАЛИ НА ДЕМО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251960"/>
            <a:ext cx="48463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3"/>
                </a:solidFill>
                <a:latin typeface="Segoe UI"/>
              </a:rPr>
              <a:t>«Что делать в ближайшие дни?» — модель называет риск вредителей 85 %, плановую обработку «Борей» 0,15 л/га и окно по погоде.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4AE"/>
                </a:solidFill>
                <a:latin typeface="Segoe UI"/>
              </a:rPr>
              <a:t>AgroTech AI  ·  «Агро-Радар»  ·  кейс РУСАГРО × Школа 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4AE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502920" cy="4572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BD694"/>
                </a:solidFill>
                <a:latin typeface="Segoe UI"/>
              </a:rPr>
              <a:t>07 · МОБИЛЬНОСТЬ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Тот же продукт в кармане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AA4AE"/>
                </a:solidFill>
                <a:latin typeface="Segoe UI"/>
              </a:rPr>
              <a:t>PWA: планшет и смартфон без установки из стора</a:t>
            </a:r>
          </a:p>
        </p:txBody>
      </p:sp>
      <p:sp>
        <p:nvSpPr>
          <p:cNvPr id="7" name="Rectangle 6"/>
          <p:cNvSpPr/>
          <p:nvPr/>
        </p:nvSpPr>
        <p:spPr>
          <a:xfrm>
            <a:off x="7449012" y="1728216"/>
            <a:ext cx="2201255" cy="4636008"/>
          </a:xfrm>
          <a:prstGeom prst="rect">
            <a:avLst/>
          </a:prstGeom>
          <a:solidFill>
            <a:srgbClr val="151B22"/>
          </a:solidFill>
          <a:ln w="12700">
            <a:solidFill>
              <a:srgbClr val="2A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obile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3876" y="1783080"/>
            <a:ext cx="2091527" cy="45262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643572" y="1728216"/>
            <a:ext cx="2201255" cy="4636008"/>
          </a:xfrm>
          <a:prstGeom prst="rect">
            <a:avLst/>
          </a:prstGeom>
          <a:solidFill>
            <a:srgbClr val="151B22"/>
          </a:solidFill>
          <a:ln w="12700">
            <a:solidFill>
              <a:srgbClr val="2A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obile_works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8436" y="1783080"/>
            <a:ext cx="2091527" cy="4526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2011680"/>
            <a:ext cx="64922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000">
                <a:solidFill>
                  <a:srgbClr val="4CAF50"/>
                </a:solidFill>
                <a:latin typeface="Segoe UI"/>
              </a:rPr>
              <a:t>●  </a:t>
            </a:r>
            <a:r>
              <a:rPr sz="1300">
                <a:solidFill>
                  <a:srgbClr val="E6EDF3"/>
                </a:solidFill>
                <a:latin typeface="Segoe UI"/>
              </a:rPr>
              <a:t>Одна вёрстка: ПК, планшет, телефон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000">
                <a:solidFill>
                  <a:srgbClr val="4CAF50"/>
                </a:solidFill>
                <a:latin typeface="Segoe UI"/>
              </a:rPr>
              <a:t>●  </a:t>
            </a:r>
            <a:r>
              <a:rPr sz="1300">
                <a:solidFill>
                  <a:srgbClr val="E6EDF3"/>
                </a:solidFill>
                <a:latin typeface="Segoe UI"/>
              </a:rPr>
              <a:t>Полноэкранный чат и крупные кнопки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000">
                <a:solidFill>
                  <a:srgbClr val="4CAF50"/>
                </a:solidFill>
                <a:latin typeface="Segoe UI"/>
              </a:rPr>
              <a:t>●  </a:t>
            </a:r>
            <a:r>
              <a:rPr sz="1300">
                <a:solidFill>
                  <a:srgbClr val="E6EDF3"/>
                </a:solidFill>
                <a:latin typeface="Segoe UI"/>
              </a:rPr>
              <a:t>Офлайн после первого открытия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000">
                <a:solidFill>
                  <a:srgbClr val="4CAF50"/>
                </a:solidFill>
                <a:latin typeface="Segoe UI"/>
              </a:rPr>
              <a:t>●  </a:t>
            </a:r>
            <a:r>
              <a:rPr sz="1300">
                <a:solidFill>
                  <a:srgbClr val="E6EDF3"/>
                </a:solidFill>
                <a:latin typeface="Segoe UI"/>
              </a:rPr>
              <a:t>Доступ по Wi-Fi: http://&lt;IP&gt;:8000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000">
                <a:solidFill>
                  <a:srgbClr val="4CAF50"/>
                </a:solidFill>
                <a:latin typeface="Segoe UI"/>
              </a:rPr>
              <a:t>●  </a:t>
            </a:r>
            <a:r>
              <a:rPr sz="1300">
                <a:solidFill>
                  <a:srgbClr val="E6EDF3"/>
                </a:solidFill>
                <a:latin typeface="Segoe UI"/>
              </a:rPr>
              <a:t>Можно добавить на домашний экран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4AE"/>
                </a:solidFill>
                <a:latin typeface="Segoe UI"/>
              </a:rPr>
              <a:t>AgroTech AI  ·  «Агро-Радар»  ·  кейс РУСАГРО × Школа 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4AE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502920" cy="4572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BD694"/>
                </a:solidFill>
                <a:latin typeface="Segoe UI"/>
              </a:rPr>
              <a:t>08 · ТЕХНОЛОГИИ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Стек выбран под задачу, а не под моду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74519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297680"/>
                <a:gridCol w="5303520"/>
              </a:tblGrid>
              <a:tr h="4876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Слой</a:t>
                      </a:r>
                    </a:p>
                  </a:txBody>
                  <a:tcPr marL="82296" marR="82296" marT="45720" marB="45720" anchor="ctr">
                    <a:solidFill>
                      <a:srgbClr val="4CAF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Выбор</a:t>
                      </a:r>
                    </a:p>
                  </a:txBody>
                  <a:tcPr marL="82296" marR="82296" marT="45720" marB="45720" anchor="ctr">
                    <a:solidFill>
                      <a:srgbClr val="4CAF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Почему</a:t>
                      </a:r>
                    </a:p>
                  </a:txBody>
                  <a:tcPr marL="82296" marR="82296" marT="45720" marB="45720" anchor="ctr">
                    <a:solidFill>
                      <a:srgbClr val="4CAF50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6EDF3"/>
                          </a:solidFill>
                          <a:latin typeface="Segoe UI"/>
                        </a:rPr>
                        <a:t>Фронтенд</a:t>
                      </a:r>
                    </a:p>
                  </a:txBody>
                  <a:tcPr marL="82296" marR="82296" marT="45720" marB="45720" anchor="ctr">
                    <a:solidFill>
                      <a:srgbClr val="15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6EDF3"/>
                          </a:solidFill>
                          <a:latin typeface="Segoe UI"/>
                        </a:rPr>
                        <a:t>Vanilla JS + Leaflet + Chart.js (локально)</a:t>
                      </a:r>
                    </a:p>
                  </a:txBody>
                  <a:tcPr marL="82296" marR="82296" marT="45720" marB="45720" anchor="ctr">
                    <a:solidFill>
                      <a:srgbClr val="15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6EDF3"/>
                          </a:solidFill>
                          <a:latin typeface="Segoe UI"/>
                        </a:rPr>
                        <a:t>Без сборки, офлайн, мгновенный старт</a:t>
                      </a:r>
                    </a:p>
                  </a:txBody>
                  <a:tcPr marL="82296" marR="82296" marT="45720" marB="45720" anchor="ctr">
                    <a:solidFill>
                      <a:srgbClr val="151B22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6EDF3"/>
                          </a:solidFill>
                          <a:latin typeface="Segoe UI"/>
                        </a:rPr>
                        <a:t>Бэкенд</a:t>
                      </a:r>
                    </a:p>
                  </a:txBody>
                  <a:tcPr marL="82296" marR="82296" marT="45720" marB="45720" anchor="ctr">
                    <a:solidFill>
                      <a:srgbClr val="15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6EDF3"/>
                          </a:solidFill>
                          <a:latin typeface="Segoe UI"/>
                        </a:rPr>
                        <a:t>FastAPI + Pydantic, 12 эндпоинтов</a:t>
                      </a:r>
                    </a:p>
                  </a:txBody>
                  <a:tcPr marL="82296" marR="82296" marT="45720" marB="45720" anchor="ctr">
                    <a:solidFill>
                      <a:srgbClr val="15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6EDF3"/>
                          </a:solidFill>
                          <a:latin typeface="Segoe UI"/>
                        </a:rPr>
                        <a:t>OpenAPI, threadpool, простой деплой</a:t>
                      </a:r>
                    </a:p>
                  </a:txBody>
                  <a:tcPr marL="82296" marR="82296" marT="45720" marB="45720" anchor="ctr">
                    <a:solidFill>
                      <a:srgbClr val="151B22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6EDF3"/>
                          </a:solidFill>
                          <a:latin typeface="Segoe UI"/>
                        </a:rPr>
                        <a:t>ML</a:t>
                      </a:r>
                    </a:p>
                  </a:txBody>
                  <a:tcPr marL="82296" marR="82296" marT="45720" marB="45720" anchor="ctr">
                    <a:solidFill>
                      <a:srgbClr val="15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6EDF3"/>
                          </a:solidFill>
                          <a:latin typeface="Segoe UI"/>
                        </a:rPr>
                        <a:t>RandomForest (sklearn), кэш модели</a:t>
                      </a:r>
                    </a:p>
                  </a:txBody>
                  <a:tcPr marL="82296" marR="82296" marT="45720" marB="45720" anchor="ctr">
                    <a:solidFill>
                      <a:srgbClr val="15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6EDF3"/>
                          </a:solidFill>
                          <a:latin typeface="Segoe UI"/>
                        </a:rPr>
                        <a:t>Интерпретируемость, 3 риска, &lt; 10 мс</a:t>
                      </a:r>
                    </a:p>
                  </a:txBody>
                  <a:tcPr marL="82296" marR="82296" marT="45720" marB="45720" anchor="ctr">
                    <a:solidFill>
                      <a:srgbClr val="151B22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6EDF3"/>
                          </a:solidFill>
                          <a:latin typeface="Segoe UI"/>
                        </a:rPr>
                        <a:t>ИИ</a:t>
                      </a:r>
                    </a:p>
                  </a:txBody>
                  <a:tcPr marL="82296" marR="82296" marT="45720" marB="45720" anchor="ctr">
                    <a:solidFill>
                      <a:srgbClr val="15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6EDF3"/>
                          </a:solidFill>
                          <a:latin typeface="Segoe UI"/>
                        </a:rPr>
                        <a:t>AnyModel: Ultra + Lightning</a:t>
                      </a:r>
                    </a:p>
                  </a:txBody>
                  <a:tcPr marL="82296" marR="82296" marT="45720" marB="45720" anchor="ctr">
                    <a:solidFill>
                      <a:srgbClr val="15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6EDF3"/>
                          </a:solidFill>
                          <a:latin typeface="Segoe UI"/>
                        </a:rPr>
                        <a:t>Валидация ответа и fallback</a:t>
                      </a:r>
                    </a:p>
                  </a:txBody>
                  <a:tcPr marL="82296" marR="82296" marT="45720" marB="45720" anchor="ctr">
                    <a:solidFill>
                      <a:srgbClr val="151B22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6EDF3"/>
                          </a:solidFill>
                          <a:latin typeface="Segoe UI"/>
                        </a:rPr>
                        <a:t>Доставка</a:t>
                      </a:r>
                    </a:p>
                  </a:txBody>
                  <a:tcPr marL="82296" marR="82296" marT="45720" marB="45720" anchor="ctr">
                    <a:solidFill>
                      <a:srgbClr val="15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6EDF3"/>
                          </a:solidFill>
                          <a:latin typeface="Segoe UI"/>
                        </a:rPr>
                        <a:t>PowerShell-установщик + PWA</a:t>
                      </a:r>
                    </a:p>
                  </a:txBody>
                  <a:tcPr marL="82296" marR="82296" marT="45720" marB="45720" anchor="ctr">
                    <a:solidFill>
                      <a:srgbClr val="15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6EDF3"/>
                          </a:solidFill>
                          <a:latin typeface="Segoe UI"/>
                        </a:rPr>
                        <a:t>Python сам, ярлыки, удаление</a:t>
                      </a:r>
                    </a:p>
                  </a:txBody>
                  <a:tcPr marL="82296" marR="82296" marT="45720" marB="45720" anchor="ctr">
                    <a:solidFill>
                      <a:srgbClr val="151B2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120640"/>
            <a:ext cx="2606040" cy="1051560"/>
          </a:xfrm>
          <a:prstGeom prst="rect">
            <a:avLst/>
          </a:prstGeom>
          <a:solidFill>
            <a:srgbClr val="151B22"/>
          </a:solidFill>
          <a:ln w="12700">
            <a:solidFill>
              <a:srgbClr val="2A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523036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8BD694"/>
                </a:solidFill>
                <a:latin typeface="Segoe UI"/>
              </a:rPr>
              <a:t>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6692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4AE"/>
                </a:solidFill>
                <a:latin typeface="Segoe UI"/>
              </a:rPr>
              <a:t>автотестов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1568" y="5120640"/>
            <a:ext cx="2606040" cy="1051560"/>
          </a:xfrm>
          <a:prstGeom prst="rect">
            <a:avLst/>
          </a:prstGeom>
          <a:solidFill>
            <a:srgbClr val="151B22"/>
          </a:solidFill>
          <a:ln w="12700">
            <a:solidFill>
              <a:srgbClr val="2A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2736" y="523036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8BD694"/>
                </a:solidFill>
                <a:latin typeface="Segoe UI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2736" y="56692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4AE"/>
                </a:solidFill>
                <a:latin typeface="Segoe UI"/>
              </a:rPr>
              <a:t>полей · 1290 га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4496" y="5120640"/>
            <a:ext cx="2606040" cy="1051560"/>
          </a:xfrm>
          <a:prstGeom prst="rect">
            <a:avLst/>
          </a:prstGeom>
          <a:solidFill>
            <a:srgbClr val="151B22"/>
          </a:solidFill>
          <a:ln w="12700">
            <a:solidFill>
              <a:srgbClr val="2A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523036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8BD694"/>
                </a:solidFill>
                <a:latin typeface="Segoe UI"/>
              </a:rPr>
              <a:t>2 мс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56692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4AE"/>
                </a:solidFill>
                <a:latin typeface="Segoe UI"/>
              </a:rPr>
              <a:t>alerts во время чата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07424" y="5120640"/>
            <a:ext cx="2606040" cy="1051560"/>
          </a:xfrm>
          <a:prstGeom prst="rect">
            <a:avLst/>
          </a:prstGeom>
          <a:solidFill>
            <a:srgbClr val="151B22"/>
          </a:solidFill>
          <a:ln w="12700">
            <a:solidFill>
              <a:srgbClr val="2A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08592" y="523036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8BD694"/>
                </a:solidFill>
                <a:latin typeface="Segoe UI"/>
              </a:rPr>
              <a:t>1,27 МБ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8592" y="56692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4AE"/>
                </a:solidFill>
                <a:latin typeface="Segoe UI"/>
              </a:rPr>
              <a:t>дистрибутив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4AE"/>
                </a:solidFill>
                <a:latin typeface="Segoe UI"/>
              </a:rPr>
              <a:t>AgroTech AI  ·  «Агро-Радар»  ·  кейс РУСАГРО × Школа 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4AE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502920" cy="4572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BD694"/>
                </a:solidFill>
                <a:latin typeface="Segoe UI"/>
              </a:rPr>
              <a:t>09 · ПРИМЕНИМОСТЬ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От архива до рабочего места — две минуты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5778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000">
                <a:solidFill>
                  <a:srgbClr val="4CAF50"/>
                </a:solidFill>
                <a:latin typeface="Segoe UI"/>
              </a:rPr>
              <a:t>●  </a:t>
            </a:r>
            <a:r>
              <a:rPr sz="1300">
                <a:solidFill>
                  <a:srgbClr val="E6EDF3"/>
                </a:solidFill>
                <a:latin typeface="Segoe UI"/>
              </a:rPr>
              <a:t>ZIP → Install.cmd → браузер. Без админа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000">
                <a:solidFill>
                  <a:srgbClr val="4CAF50"/>
                </a:solidFill>
                <a:latin typeface="Segoe UI"/>
              </a:rPr>
              <a:t>●  </a:t>
            </a:r>
            <a:r>
              <a:rPr sz="1300">
                <a:solidFill>
                  <a:srgbClr val="E6EDF3"/>
                </a:solidFill>
                <a:latin typeface="Segoe UI"/>
              </a:rPr>
              <a:t>Python и зависимости скачиваются сами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000">
                <a:solidFill>
                  <a:srgbClr val="4CAF50"/>
                </a:solidFill>
                <a:latin typeface="Segoe UI"/>
              </a:rPr>
              <a:t>●  </a:t>
            </a:r>
            <a:r>
              <a:rPr sz="1300">
                <a:solidFill>
                  <a:srgbClr val="E6EDF3"/>
                </a:solidFill>
                <a:latin typeface="Segoe UI"/>
              </a:rPr>
              <a:t>Работает офлайн, данные лежат локально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000">
                <a:solidFill>
                  <a:srgbClr val="4CAF50"/>
                </a:solidFill>
                <a:latin typeface="Segoe UI"/>
              </a:rPr>
              <a:t>●  </a:t>
            </a:r>
            <a:r>
              <a:rPr sz="1300">
                <a:solidFill>
                  <a:srgbClr val="E6EDF3"/>
                </a:solidFill>
                <a:latin typeface="Segoe UI"/>
              </a:rPr>
              <a:t>Формат fields.json совместим с выгрузкой агросистемы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000">
                <a:solidFill>
                  <a:srgbClr val="4CAF50"/>
                </a:solidFill>
                <a:latin typeface="Segoe UI"/>
              </a:rPr>
              <a:t>●  </a:t>
            </a:r>
            <a:r>
              <a:rPr sz="1300">
                <a:solidFill>
                  <a:srgbClr val="E6EDF3"/>
                </a:solidFill>
                <a:latin typeface="Segoe UI"/>
              </a:rPr>
              <a:t>HTML-отчёт по полю для печати и почты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000">
                <a:solidFill>
                  <a:srgbClr val="4CAF50"/>
                </a:solidFill>
                <a:latin typeface="Segoe UI"/>
              </a:rPr>
              <a:t>●  </a:t>
            </a:r>
            <a:r>
              <a:rPr sz="1300">
                <a:solidFill>
                  <a:srgbClr val="E6EDF3"/>
                </a:solidFill>
                <a:latin typeface="Segoe UI"/>
              </a:rPr>
              <a:t>Деинсталлятор: ярлык «Удалить Агро-Радар»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920240"/>
            <a:ext cx="5257800" cy="2926080"/>
          </a:xfrm>
          <a:prstGeom prst="rect">
            <a:avLst/>
          </a:prstGeom>
          <a:solidFill>
            <a:srgbClr val="151B22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10312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9800"/>
                </a:solidFill>
                <a:latin typeface="Segoe UI"/>
              </a:rPr>
              <a:t>ЧЕСТНЫЕ ОГРАНИЧЕНИЯ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514600"/>
            <a:ext cx="47091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900">
                <a:solidFill>
                  <a:srgbClr val="FF9800"/>
                </a:solidFill>
                <a:latin typeface="Segoe UI"/>
              </a:rPr>
              <a:t>●  </a:t>
            </a:r>
            <a:r>
              <a:rPr sz="1200">
                <a:solidFill>
                  <a:srgbClr val="E6EDF3"/>
                </a:solidFill>
                <a:latin typeface="Segoe UI"/>
              </a:rPr>
              <a:t>Данные демонстрационные, формат — реальный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900">
                <a:solidFill>
                  <a:srgbClr val="FF9800"/>
                </a:solidFill>
                <a:latin typeface="Segoe UI"/>
              </a:rPr>
              <a:t>●  </a:t>
            </a:r>
            <a:r>
              <a:rPr sz="1200">
                <a:solidFill>
                  <a:srgbClr val="E6EDF3"/>
                </a:solidFill>
                <a:latin typeface="Segoe UI"/>
              </a:rPr>
              <a:t>NDVI — модельный ряд, не снимки Sentinel-2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900">
                <a:solidFill>
                  <a:srgbClr val="FF9800"/>
                </a:solidFill>
                <a:latin typeface="Segoe UI"/>
              </a:rPr>
              <a:t>●  </a:t>
            </a:r>
            <a:r>
              <a:rPr sz="1200">
                <a:solidFill>
                  <a:srgbClr val="E6EDF3"/>
                </a:solidFill>
                <a:latin typeface="Segoe UI"/>
              </a:rPr>
              <a:t>LLM зависит от провайдера, есть fallback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900">
                <a:solidFill>
                  <a:srgbClr val="FF9800"/>
                </a:solidFill>
                <a:latin typeface="Segoe UI"/>
              </a:rPr>
              <a:t>●  </a:t>
            </a:r>
            <a:r>
              <a:rPr sz="1200">
                <a:solidFill>
                  <a:srgbClr val="E6EDF3"/>
                </a:solidFill>
                <a:latin typeface="Segoe UI"/>
              </a:rPr>
              <a:t>Нет БД, ролей и APK — следующий шаг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8BD694"/>
                </a:solidFill>
                <a:latin typeface="Segoe UI"/>
              </a:rPr>
              <a:t>Эффект для хозяйства: один источник правды вместо пяти таблиц — быстрее планирование обработок и меньше пропущенных рисков.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4AE"/>
                </a:solidFill>
                <a:latin typeface="Segoe UI"/>
              </a:rPr>
              <a:t>AgroTech AI  ·  «Агро-Радар»  ·  кейс РУСАГРО × Школа 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4AE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502920" cy="4572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BD694"/>
                </a:solidFill>
                <a:latin typeface="Segoe UI"/>
              </a:rPr>
              <a:t>10 · КРИТЕРИИ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Как закрыт каждый пункт оценки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74519"/>
          <a:ext cx="1106424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772400"/>
              </a:tblGrid>
              <a:tr h="5105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Критерий</a:t>
                      </a:r>
                    </a:p>
                  </a:txBody>
                  <a:tcPr marL="82296" marR="82296" marT="45720" marB="45720" anchor="ctr">
                    <a:solidFill>
                      <a:srgbClr val="4CAF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Что показываем</a:t>
                      </a:r>
                    </a:p>
                  </a:txBody>
                  <a:tcPr marL="82296" marR="82296" marT="45720" marB="45720" anchor="ctr">
                    <a:solidFill>
                      <a:srgbClr val="4CAF50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6EDF3"/>
                          </a:solidFill>
                          <a:latin typeface="Segoe UI"/>
                        </a:rPr>
                        <a:t>Соответствие задаче</a:t>
                      </a:r>
                    </a:p>
                  </a:txBody>
                  <a:tcPr marL="82296" marR="82296" marT="45720" marB="45720" anchor="ctr">
                    <a:solidFill>
                      <a:srgbClr val="15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6EDF3"/>
                          </a:solidFill>
                          <a:latin typeface="Segoe UI"/>
                        </a:rPr>
                        <a:t>Все пункты кейса и требования агронома — в живом демо</a:t>
                      </a:r>
                    </a:p>
                  </a:txBody>
                  <a:tcPr marL="82296" marR="82296" marT="45720" marB="45720" anchor="ctr">
                    <a:solidFill>
                      <a:srgbClr val="151B22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6EDF3"/>
                          </a:solidFill>
                          <a:latin typeface="Segoe UI"/>
                        </a:rPr>
                        <a:t>Практическая применимость</a:t>
                      </a:r>
                    </a:p>
                  </a:txBody>
                  <a:tcPr marL="82296" marR="82296" marT="45720" marB="45720" anchor="ctr">
                    <a:solidFill>
                      <a:srgbClr val="15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6EDF3"/>
                          </a:solidFill>
                          <a:latin typeface="Segoe UI"/>
                        </a:rPr>
                        <a:t>Установщик, офлайн, формат данных, отчёт</a:t>
                      </a:r>
                    </a:p>
                  </a:txBody>
                  <a:tcPr marL="82296" marR="82296" marT="45720" marB="45720" anchor="ctr">
                    <a:solidFill>
                      <a:srgbClr val="151B22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6EDF3"/>
                          </a:solidFill>
                          <a:latin typeface="Segoe UI"/>
                        </a:rPr>
                        <a:t>Дизайн и UX/UI</a:t>
                      </a:r>
                    </a:p>
                  </a:txBody>
                  <a:tcPr marL="82296" marR="82296" marT="45720" marB="45720" anchor="ctr">
                    <a:solidFill>
                      <a:srgbClr val="15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6EDF3"/>
                          </a:solidFill>
                          <a:latin typeface="Segoe UI"/>
                        </a:rPr>
                        <a:t>4 раздела, 7 вкладок, мобильная вёрстка, крупная типографика</a:t>
                      </a:r>
                    </a:p>
                  </a:txBody>
                  <a:tcPr marL="82296" marR="82296" marT="45720" marB="45720" anchor="ctr">
                    <a:solidFill>
                      <a:srgbClr val="151B22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6EDF3"/>
                          </a:solidFill>
                          <a:latin typeface="Segoe UI"/>
                        </a:rPr>
                        <a:t>Техническая адекватность</a:t>
                      </a:r>
                    </a:p>
                  </a:txBody>
                  <a:tcPr marL="82296" marR="82296" marT="45720" marB="45720" anchor="ctr">
                    <a:solidFill>
                      <a:srgbClr val="15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6EDF3"/>
                          </a:solidFill>
                          <a:latin typeface="Segoe UI"/>
                        </a:rPr>
                        <a:t>Стек под задачу, 39 тестов, метрики, fallback</a:t>
                      </a:r>
                    </a:p>
                  </a:txBody>
                  <a:tcPr marL="82296" marR="82296" marT="45720" marB="45720" anchor="ctr">
                    <a:solidFill>
                      <a:srgbClr val="151B22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6EDF3"/>
                          </a:solidFill>
                          <a:latin typeface="Segoe UI"/>
                        </a:rPr>
                        <a:t>Качество представления</a:t>
                      </a:r>
                    </a:p>
                  </a:txBody>
                  <a:tcPr marL="82296" marR="82296" marT="45720" marB="45720" anchor="ctr">
                    <a:solidFill>
                      <a:srgbClr val="15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E6EDF3"/>
                          </a:solidFill>
                          <a:latin typeface="Segoe UI"/>
                        </a:rPr>
                        <a:t>Демо 5 минут, сценарий, слайды, видео-бэкап</a:t>
                      </a:r>
                    </a:p>
                  </a:txBody>
                  <a:tcPr marL="82296" marR="82296" marT="45720" marB="45720" anchor="ctr">
                    <a:solidFill>
                      <a:srgbClr val="151B2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2578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A4AE"/>
                </a:solidFill>
                <a:latin typeface="Segoe UI"/>
              </a:rPr>
              <a:t>Название команды: AgroTech AI  ·  продукт: «Агро-Радар»  ·  дедлайн: 30.10, 12:00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4AE"/>
                </a:solidFill>
                <a:latin typeface="Segoe UI"/>
              </a:rPr>
              <a:t>AgroTech AI  ·  «Агро-Радар»  ·  кейс РУСАГРО × Школа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4AE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BD694"/>
                </a:solidFill>
                <a:latin typeface="Segoe UI"/>
              </a:rPr>
              <a:t>ИТОГ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Segoe UI"/>
              </a:rPr>
              <a:t>Готово к защите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DF3"/>
                </a:solidFill>
                <a:latin typeface="Segoe UI"/>
              </a:rPr>
              <a:t>MVP, установщик, PWA и 39 автотестов — можно ставить и показывать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8BD694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891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AA4AE"/>
                </a:solidFill>
                <a:latin typeface="Segoe UI"/>
              </a:rPr>
              <a:t>полей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70332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8BD694"/>
                </a:solidFill>
                <a:latin typeface="Segoe UI"/>
              </a:rPr>
              <a:t>1290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43891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AA4AE"/>
                </a:solidFill>
                <a:latin typeface="Segoe UI"/>
              </a:rPr>
              <a:t>га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79" y="370332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8BD694"/>
                </a:solidFill>
                <a:latin typeface="Segoe UI"/>
              </a:rPr>
              <a:t>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79" y="43891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AA4AE"/>
                </a:solidFill>
                <a:latin typeface="Segoe UI"/>
              </a:rPr>
              <a:t>тестов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370332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8BD694"/>
                </a:solidFill>
                <a:latin typeface="Segoe U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43891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AA4AE"/>
                </a:solidFill>
                <a:latin typeface="Segoe UI"/>
              </a:rPr>
              <a:t>минут демо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03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6EDF3"/>
                </a:solidFill>
                <a:latin typeface="Segoe UI"/>
              </a:rPr>
              <a:t>Дальше: реальные NDVI, интеграция с агросистемой, роли и задачи, APK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52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BD694"/>
                </a:solidFill>
                <a:latin typeface="Segoe UI"/>
              </a:rPr>
              <a:t>info@belgorod.21-school.ru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